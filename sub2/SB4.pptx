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3" r:id="rId8"/>
    <p:sldId id="262"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586CBF-6EC1-6446-D0F6-CEAF187710A9}" v="325" dt="2026-02-17T14:59:36.743"/>
    <p1510:client id="{75D23025-1B85-E9B8-66E4-9E3CF2F3E535}" v="105" dt="2026-02-17T17:51:17.218"/>
    <p1510:client id="{770649DD-C456-EBF6-36A1-8C0D482CADEF}" v="314" dt="2026-02-17T14:35:36.121"/>
    <p1510:client id="{A74F01C5-6483-3B52-F026-0047BB42B923}" v="369" dt="2026-02-17T22:39:58.806"/>
    <p1510:client id="{BE89C633-3C96-F3F6-E17E-8EEE324C42FF}" v="10" dt="2026-02-16T17:48:55.507"/>
    <p1510:client id="{F88AA278-3DFE-9773-2EE1-2750800C5BB3}" v="13" dt="2026-02-17T17:16:42.217"/>
    <p1510:client id="{FE560A95-8CF5-C275-5C3E-8A59E9271B0B}" v="126" dt="2026-02-17T21:59:08.3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006502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4509A250-FF31-4206-8172-F9D3106AACB1}" type="datetimeFigureOut">
              <a:rPr lang="en-US" dirty="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835015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482416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96027F-7875-4030-9381-8BD8C4F21935}" type="datetimeFigureOut">
              <a:rPr lang="en-US" dirty="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842115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96027F-7875-4030-9381-8BD8C4F21935}" type="datetimeFigureOut">
              <a:rPr lang="en-US" dirty="0"/>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4199016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2/19/2026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677012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2/19/2026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437568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2/19/2026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311106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40067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571956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8962269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20496334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2697779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2/19/2026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4400598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2/19/2026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6635638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604020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439242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2/19/2026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a:p>
        </p:txBody>
      </p:sp>
    </p:spTree>
    <p:extLst>
      <p:ext uri="{BB962C8B-B14F-4D97-AF65-F5344CB8AC3E}">
        <p14:creationId xmlns:p14="http://schemas.microsoft.com/office/powerpoint/2010/main" val="3387055827"/>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6691" y="283234"/>
            <a:ext cx="8825658" cy="1000449"/>
          </a:xfrm>
        </p:spPr>
        <p:txBody>
          <a:bodyPr/>
          <a:lstStyle/>
          <a:p>
            <a:r>
              <a:rPr lang="en-US"/>
              <a:t>Why are we here?</a:t>
            </a:r>
          </a:p>
        </p:txBody>
      </p:sp>
      <p:sp>
        <p:nvSpPr>
          <p:cNvPr id="3" name="Subtitle 2"/>
          <p:cNvSpPr>
            <a:spLocks noGrp="1"/>
          </p:cNvSpPr>
          <p:nvPr>
            <p:ph type="subTitle" idx="1"/>
          </p:nvPr>
        </p:nvSpPr>
        <p:spPr>
          <a:xfrm>
            <a:off x="306691" y="1269305"/>
            <a:ext cx="8825658" cy="3794400"/>
          </a:xfrm>
        </p:spPr>
        <p:txBody>
          <a:bodyPr>
            <a:normAutofit/>
          </a:bodyPr>
          <a:lstStyle/>
          <a:p>
            <a:r>
              <a:rPr lang="en-US" b="1"/>
              <a:t>Why Are We Here?</a:t>
            </a:r>
            <a:endParaRPr lang="en-US"/>
          </a:p>
          <a:p>
            <a:r>
              <a:rPr lang="en-US" b="1">
                <a:ea typeface="+mj-lt"/>
                <a:cs typeface="+mj-lt"/>
              </a:rPr>
              <a:t>Problem:</a:t>
            </a:r>
            <a:br>
              <a:rPr lang="en-US" b="1">
                <a:ea typeface="+mj-lt"/>
                <a:cs typeface="+mj-lt"/>
              </a:rPr>
            </a:br>
            <a:r>
              <a:rPr lang="en-US" b="1">
                <a:ea typeface="+mj-lt"/>
                <a:cs typeface="+mj-lt"/>
              </a:rPr>
              <a:t> Most Sudoku apps use fixed difficulty levels that don’t adapt to individual skill levels, leading to boredom or frustration.</a:t>
            </a:r>
            <a:endParaRPr lang="en-US"/>
          </a:p>
          <a:p>
            <a:r>
              <a:rPr lang="en-US" b="1">
                <a:ea typeface="+mj-lt"/>
                <a:cs typeface="+mj-lt"/>
              </a:rPr>
              <a:t>Our Idea:</a:t>
            </a:r>
            <a:br>
              <a:rPr lang="en-US" b="1">
                <a:ea typeface="+mj-lt"/>
                <a:cs typeface="+mj-lt"/>
              </a:rPr>
            </a:br>
            <a:r>
              <a:rPr lang="en-US" b="1">
                <a:ea typeface="+mj-lt"/>
                <a:cs typeface="+mj-lt"/>
              </a:rPr>
              <a:t> Develop a Smart Adaptive Sudoku app that adjusts puzzle difficulty based on user performance and learning progress.</a:t>
            </a:r>
            <a:endParaRPr lang="en-US"/>
          </a:p>
          <a:p>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B60B7-6B97-2EF4-34E3-9BA47C159769}"/>
              </a:ext>
            </a:extLst>
          </p:cNvPr>
          <p:cNvSpPr>
            <a:spLocks noGrp="1"/>
          </p:cNvSpPr>
          <p:nvPr>
            <p:ph type="title"/>
          </p:nvPr>
        </p:nvSpPr>
        <p:spPr/>
        <p:txBody>
          <a:bodyPr/>
          <a:lstStyle/>
          <a:p>
            <a:r>
              <a:rPr lang="en-US" sz="7200">
                <a:solidFill>
                  <a:srgbClr val="EBEBEB"/>
                </a:solidFill>
                <a:latin typeface="Calibri"/>
                <a:ea typeface="Calibri"/>
                <a:cs typeface="Calibri"/>
              </a:rPr>
              <a:t>Elevator Pitch</a:t>
            </a:r>
          </a:p>
          <a:p>
            <a:endParaRPr lang="en-US"/>
          </a:p>
        </p:txBody>
      </p:sp>
      <p:sp>
        <p:nvSpPr>
          <p:cNvPr id="3" name="Content Placeholder 2">
            <a:extLst>
              <a:ext uri="{FF2B5EF4-FFF2-40B4-BE49-F238E27FC236}">
                <a16:creationId xmlns:a16="http://schemas.microsoft.com/office/drawing/2014/main" id="{6DDE69C2-E43B-598B-FFED-324FC48C082D}"/>
              </a:ext>
            </a:extLst>
          </p:cNvPr>
          <p:cNvSpPr>
            <a:spLocks noGrp="1"/>
          </p:cNvSpPr>
          <p:nvPr>
            <p:ph idx="1"/>
          </p:nvPr>
        </p:nvSpPr>
        <p:spPr>
          <a:xfrm>
            <a:off x="643237" y="1707861"/>
            <a:ext cx="8946541" cy="3275330"/>
          </a:xfrm>
        </p:spPr>
        <p:txBody>
          <a:bodyPr vert="horz" lIns="91440" tIns="45720" rIns="91440" bIns="45720" rtlCol="0" anchor="t">
            <a:noAutofit/>
          </a:bodyPr>
          <a:lstStyle/>
          <a:p>
            <a:r>
              <a:rPr lang="en-US" sz="2400">
                <a:solidFill>
                  <a:schemeClr val="bg2">
                    <a:lumMod val="60000"/>
                    <a:lumOff val="40000"/>
                  </a:schemeClr>
                </a:solidFill>
                <a:ea typeface="+mj-lt"/>
                <a:cs typeface="+mj-lt"/>
              </a:rPr>
              <a:t>Sudo is a personalized brain-training app that dynamically adjusts puzzle difficulty based on each user’s performance.</a:t>
            </a:r>
            <a:endParaRPr lang="en-US" sz="2400">
              <a:solidFill>
                <a:schemeClr val="bg2">
                  <a:lumMod val="60000"/>
                  <a:lumOff val="40000"/>
                </a:schemeClr>
              </a:solidFill>
            </a:endParaRPr>
          </a:p>
          <a:p>
            <a:pPr>
              <a:buClr>
                <a:srgbClr val="8AD0D6"/>
              </a:buClr>
            </a:pPr>
            <a:r>
              <a:rPr lang="en-US" sz="2400">
                <a:solidFill>
                  <a:schemeClr val="bg2">
                    <a:lumMod val="60000"/>
                    <a:lumOff val="40000"/>
                  </a:schemeClr>
                </a:solidFill>
                <a:ea typeface="+mj-lt"/>
                <a:cs typeface="+mj-lt"/>
              </a:rPr>
              <a:t>Unlike traditional Sudoku apps with fixed levels, our app analyzes solving time, mistakes, and hint usage to deliver the right level of challenge, helping users continuously improve their logical thinking while staying motivated and engaged.</a:t>
            </a:r>
            <a:endParaRPr lang="en-US" sz="2400">
              <a:solidFill>
                <a:schemeClr val="bg2">
                  <a:lumMod val="60000"/>
                  <a:lumOff val="40000"/>
                </a:schemeClr>
              </a:solidFill>
            </a:endParaRPr>
          </a:p>
          <a:p>
            <a:pPr>
              <a:buClr>
                <a:srgbClr val="8AD0D6"/>
              </a:buClr>
            </a:pPr>
            <a:endParaRPr lang="en-US"/>
          </a:p>
        </p:txBody>
      </p:sp>
    </p:spTree>
    <p:extLst>
      <p:ext uri="{BB962C8B-B14F-4D97-AF65-F5344CB8AC3E}">
        <p14:creationId xmlns:p14="http://schemas.microsoft.com/office/powerpoint/2010/main" val="733194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183A7-5071-8597-1501-508D39A9A79B}"/>
              </a:ext>
            </a:extLst>
          </p:cNvPr>
          <p:cNvSpPr>
            <a:spLocks noGrp="1"/>
          </p:cNvSpPr>
          <p:nvPr>
            <p:ph type="title"/>
          </p:nvPr>
        </p:nvSpPr>
        <p:spPr/>
        <p:txBody>
          <a:bodyPr/>
          <a:lstStyle/>
          <a:p>
            <a:r>
              <a:rPr lang="en-US" sz="7200">
                <a:solidFill>
                  <a:srgbClr val="EBEBEB"/>
                </a:solidFill>
                <a:latin typeface="Calibri"/>
                <a:ea typeface="Calibri"/>
                <a:cs typeface="Calibri"/>
              </a:rPr>
              <a:t>Product Box</a:t>
            </a:r>
          </a:p>
          <a:p>
            <a:endParaRPr lang="en-US"/>
          </a:p>
        </p:txBody>
      </p:sp>
      <p:sp>
        <p:nvSpPr>
          <p:cNvPr id="3" name="Content Placeholder 2">
            <a:extLst>
              <a:ext uri="{FF2B5EF4-FFF2-40B4-BE49-F238E27FC236}">
                <a16:creationId xmlns:a16="http://schemas.microsoft.com/office/drawing/2014/main" id="{98BAE830-D806-C323-EFAD-1054CCDF1ADF}"/>
              </a:ext>
            </a:extLst>
          </p:cNvPr>
          <p:cNvSpPr>
            <a:spLocks noGrp="1"/>
          </p:cNvSpPr>
          <p:nvPr>
            <p:ph idx="1"/>
          </p:nvPr>
        </p:nvSpPr>
        <p:spPr>
          <a:xfrm>
            <a:off x="643237" y="1707861"/>
            <a:ext cx="8946541" cy="4195481"/>
          </a:xfrm>
        </p:spPr>
        <p:txBody>
          <a:bodyPr vert="horz" lIns="91440" tIns="45720" rIns="91440" bIns="45720" rtlCol="0" anchor="t">
            <a:normAutofit lnSpcReduction="10000"/>
          </a:bodyPr>
          <a:lstStyle/>
          <a:p>
            <a:pPr marL="0" indent="0">
              <a:buNone/>
            </a:pPr>
            <a:r>
              <a:rPr lang="en-US" b="1">
                <a:solidFill>
                  <a:schemeClr val="bg2">
                    <a:lumMod val="60000"/>
                    <a:lumOff val="40000"/>
                  </a:schemeClr>
                </a:solidFill>
                <a:ea typeface="+mj-lt"/>
                <a:cs typeface="+mj-lt"/>
              </a:rPr>
              <a:t>Key Features:</a:t>
            </a:r>
            <a:endParaRPr lang="en-US">
              <a:solidFill>
                <a:schemeClr val="bg2">
                  <a:lumMod val="60000"/>
                  <a:lumOff val="40000"/>
                </a:schemeClr>
              </a:solidFill>
            </a:endParaRPr>
          </a:p>
          <a:p>
            <a:pPr marL="0" indent="0">
              <a:buClr>
                <a:srgbClr val="8AD0D6"/>
              </a:buClr>
              <a:buNone/>
            </a:pPr>
            <a:r>
              <a:rPr lang="en-US">
                <a:solidFill>
                  <a:schemeClr val="bg2">
                    <a:lumMod val="60000"/>
                    <a:lumOff val="40000"/>
                  </a:schemeClr>
                </a:solidFill>
                <a:ea typeface="+mj-lt"/>
                <a:cs typeface="+mj-lt"/>
              </a:rPr>
              <a:t>  Adaptive difficulty system</a:t>
            </a:r>
            <a:endParaRPr lang="en-US">
              <a:solidFill>
                <a:schemeClr val="bg2">
                  <a:lumMod val="60000"/>
                  <a:lumOff val="40000"/>
                </a:schemeClr>
              </a:solidFill>
            </a:endParaRPr>
          </a:p>
          <a:p>
            <a:pPr marL="0" indent="0">
              <a:buClr>
                <a:srgbClr val="8AD0D6"/>
              </a:buClr>
              <a:buNone/>
            </a:pPr>
            <a:r>
              <a:rPr lang="en-US">
                <a:solidFill>
                  <a:schemeClr val="bg2">
                    <a:lumMod val="60000"/>
                    <a:lumOff val="40000"/>
                  </a:schemeClr>
                </a:solidFill>
                <a:ea typeface="+mj-lt"/>
                <a:cs typeface="+mj-lt"/>
              </a:rPr>
              <a:t>  Smart hints and mistake detection</a:t>
            </a:r>
            <a:endParaRPr lang="en-US">
              <a:solidFill>
                <a:schemeClr val="bg2">
                  <a:lumMod val="60000"/>
                  <a:lumOff val="40000"/>
                </a:schemeClr>
              </a:solidFill>
            </a:endParaRPr>
          </a:p>
          <a:p>
            <a:pPr marL="0" indent="0">
              <a:buClr>
                <a:srgbClr val="8AD0D6"/>
              </a:buClr>
              <a:buNone/>
            </a:pPr>
            <a:r>
              <a:rPr lang="en-US">
                <a:solidFill>
                  <a:schemeClr val="bg2">
                    <a:lumMod val="60000"/>
                    <a:lumOff val="40000"/>
                  </a:schemeClr>
                </a:solidFill>
                <a:ea typeface="+mj-lt"/>
                <a:cs typeface="+mj-lt"/>
              </a:rPr>
              <a:t>  Progress tracking dashboard</a:t>
            </a:r>
            <a:endParaRPr lang="en-US">
              <a:solidFill>
                <a:schemeClr val="bg2">
                  <a:lumMod val="60000"/>
                  <a:lumOff val="40000"/>
                </a:schemeClr>
              </a:solidFill>
            </a:endParaRPr>
          </a:p>
          <a:p>
            <a:pPr marL="0" indent="0">
              <a:buClr>
                <a:srgbClr val="8AD0D6"/>
              </a:buClr>
              <a:buNone/>
            </a:pPr>
            <a:r>
              <a:rPr lang="en-US">
                <a:solidFill>
                  <a:schemeClr val="bg2">
                    <a:lumMod val="60000"/>
                    <a:lumOff val="40000"/>
                  </a:schemeClr>
                </a:solidFill>
                <a:ea typeface="+mj-lt"/>
                <a:cs typeface="+mj-lt"/>
              </a:rPr>
              <a:t>  Daily challenges and leaderboards</a:t>
            </a:r>
            <a:endParaRPr lang="en-US">
              <a:solidFill>
                <a:schemeClr val="bg2">
                  <a:lumMod val="60000"/>
                  <a:lumOff val="40000"/>
                </a:schemeClr>
              </a:solidFill>
            </a:endParaRPr>
          </a:p>
          <a:p>
            <a:pPr marL="0" indent="0">
              <a:buClr>
                <a:srgbClr val="8AD0D6"/>
              </a:buClr>
              <a:buNone/>
            </a:pPr>
            <a:r>
              <a:rPr lang="en-US" b="1">
                <a:solidFill>
                  <a:schemeClr val="bg2">
                    <a:lumMod val="60000"/>
                    <a:lumOff val="40000"/>
                  </a:schemeClr>
                </a:solidFill>
                <a:ea typeface="+mj-lt"/>
                <a:cs typeface="+mj-lt"/>
              </a:rPr>
              <a:t>Key Benefits:</a:t>
            </a:r>
            <a:endParaRPr lang="en-US">
              <a:solidFill>
                <a:schemeClr val="bg2">
                  <a:lumMod val="60000"/>
                  <a:lumOff val="40000"/>
                </a:schemeClr>
              </a:solidFill>
            </a:endParaRPr>
          </a:p>
          <a:p>
            <a:pPr marL="0" indent="0">
              <a:buClr>
                <a:srgbClr val="8AD0D6"/>
              </a:buClr>
              <a:buNone/>
            </a:pPr>
            <a:r>
              <a:rPr lang="en-US">
                <a:solidFill>
                  <a:schemeClr val="bg2">
                    <a:lumMod val="60000"/>
                    <a:lumOff val="40000"/>
                  </a:schemeClr>
                </a:solidFill>
                <a:ea typeface="+mj-lt"/>
                <a:cs typeface="+mj-lt"/>
              </a:rPr>
              <a:t>  Personalized learning experience</a:t>
            </a:r>
            <a:endParaRPr lang="en-US">
              <a:solidFill>
                <a:schemeClr val="bg2">
                  <a:lumMod val="60000"/>
                  <a:lumOff val="40000"/>
                </a:schemeClr>
              </a:solidFill>
            </a:endParaRPr>
          </a:p>
          <a:p>
            <a:pPr marL="0" indent="0">
              <a:buClr>
                <a:srgbClr val="8AD0D6"/>
              </a:buClr>
              <a:buNone/>
            </a:pPr>
            <a:r>
              <a:rPr lang="en-US">
                <a:solidFill>
                  <a:schemeClr val="bg2">
                    <a:lumMod val="60000"/>
                    <a:lumOff val="40000"/>
                  </a:schemeClr>
                </a:solidFill>
                <a:ea typeface="+mj-lt"/>
                <a:cs typeface="+mj-lt"/>
              </a:rPr>
              <a:t>  Improved logical reasoning</a:t>
            </a:r>
            <a:endParaRPr lang="en-US">
              <a:solidFill>
                <a:schemeClr val="bg2">
                  <a:lumMod val="60000"/>
                  <a:lumOff val="40000"/>
                </a:schemeClr>
              </a:solidFill>
            </a:endParaRPr>
          </a:p>
          <a:p>
            <a:pPr marL="0" indent="0">
              <a:buClr>
                <a:srgbClr val="8AD0D6"/>
              </a:buClr>
              <a:buNone/>
            </a:pPr>
            <a:r>
              <a:rPr lang="en-US">
                <a:solidFill>
                  <a:schemeClr val="bg2">
                    <a:lumMod val="60000"/>
                    <a:lumOff val="40000"/>
                  </a:schemeClr>
                </a:solidFill>
                <a:ea typeface="+mj-lt"/>
                <a:cs typeface="+mj-lt"/>
              </a:rPr>
              <a:t>  Higher engagement and motivation</a:t>
            </a:r>
            <a:endParaRPr lang="en-US">
              <a:solidFill>
                <a:schemeClr val="bg2">
                  <a:lumMod val="60000"/>
                  <a:lumOff val="40000"/>
                </a:schemeClr>
              </a:solidFill>
            </a:endParaRPr>
          </a:p>
          <a:p>
            <a:pPr marL="0" indent="0">
              <a:buClr>
                <a:srgbClr val="8AD0D6"/>
              </a:buClr>
              <a:buNone/>
            </a:pPr>
            <a:r>
              <a:rPr lang="en-US">
                <a:solidFill>
                  <a:schemeClr val="bg2">
                    <a:lumMod val="60000"/>
                    <a:lumOff val="40000"/>
                  </a:schemeClr>
                </a:solidFill>
                <a:ea typeface="+mj-lt"/>
                <a:cs typeface="+mj-lt"/>
              </a:rPr>
              <a:t>  Continuous skill development</a:t>
            </a:r>
            <a:endParaRPr lang="en-US">
              <a:solidFill>
                <a:schemeClr val="bg2">
                  <a:lumMod val="60000"/>
                  <a:lumOff val="40000"/>
                </a:schemeClr>
              </a:solidFill>
            </a:endParaRPr>
          </a:p>
          <a:p>
            <a:pPr>
              <a:buClr>
                <a:srgbClr val="8AD0D6"/>
              </a:buClr>
            </a:pPr>
            <a:endParaRPr lang="en-US"/>
          </a:p>
        </p:txBody>
      </p:sp>
    </p:spTree>
    <p:extLst>
      <p:ext uri="{BB962C8B-B14F-4D97-AF65-F5344CB8AC3E}">
        <p14:creationId xmlns:p14="http://schemas.microsoft.com/office/powerpoint/2010/main" val="2752763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E7AE8-729B-1136-1709-A6614E333A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D4AF686-3D71-EEEC-0CDA-80BB8BCD4594}"/>
              </a:ext>
            </a:extLst>
          </p:cNvPr>
          <p:cNvSpPr>
            <a:spLocks noGrp="1"/>
          </p:cNvSpPr>
          <p:nvPr>
            <p:ph idx="1"/>
          </p:nvPr>
        </p:nvSpPr>
        <p:spPr>
          <a:xfrm>
            <a:off x="643870" y="1851212"/>
            <a:ext cx="4558946" cy="2155355"/>
          </a:xfrm>
        </p:spPr>
        <p:txBody>
          <a:bodyPr vert="horz" lIns="91440" tIns="45720" rIns="91440" bIns="45720" rtlCol="0" anchor="t">
            <a:normAutofit fontScale="92500" lnSpcReduction="10000"/>
          </a:bodyPr>
          <a:lstStyle/>
          <a:p>
            <a:pPr marL="457200" lvl="1" indent="0" algn="ctr">
              <a:buNone/>
            </a:pPr>
            <a:r>
              <a:rPr lang="en-US"/>
              <a:t>In scope</a:t>
            </a:r>
          </a:p>
          <a:p>
            <a:pPr lvl="1"/>
            <a:r>
              <a:rPr lang="en-US"/>
              <a:t>Core gameplay</a:t>
            </a:r>
          </a:p>
          <a:p>
            <a:pPr lvl="1">
              <a:buClr>
                <a:srgbClr val="8AD0D6"/>
              </a:buClr>
            </a:pPr>
            <a:r>
              <a:rPr lang="en-US"/>
              <a:t>Adaptive difficulty</a:t>
            </a:r>
          </a:p>
          <a:p>
            <a:pPr lvl="1">
              <a:buClr>
                <a:srgbClr val="8AD0D6"/>
              </a:buClr>
            </a:pPr>
            <a:r>
              <a:rPr lang="en-US"/>
              <a:t>Hints system</a:t>
            </a:r>
          </a:p>
          <a:p>
            <a:pPr lvl="1">
              <a:buClr>
                <a:srgbClr val="8AD0D6"/>
              </a:buClr>
            </a:pPr>
            <a:r>
              <a:rPr lang="en-US"/>
              <a:t>User profiles</a:t>
            </a:r>
          </a:p>
          <a:p>
            <a:pPr lvl="1">
              <a:buClr>
                <a:srgbClr val="8AD0D6"/>
              </a:buClr>
            </a:pPr>
            <a:r>
              <a:rPr lang="en-US"/>
              <a:t>Session management</a:t>
            </a:r>
          </a:p>
          <a:p>
            <a:pPr marL="457200" lvl="1" indent="0">
              <a:buNone/>
            </a:pPr>
            <a:endParaRPr lang="en-US"/>
          </a:p>
        </p:txBody>
      </p:sp>
      <p:sp>
        <p:nvSpPr>
          <p:cNvPr id="9" name="Content Placeholder 2">
            <a:extLst>
              <a:ext uri="{FF2B5EF4-FFF2-40B4-BE49-F238E27FC236}">
                <a16:creationId xmlns:a16="http://schemas.microsoft.com/office/drawing/2014/main" id="{4AE18A79-564B-988E-6F11-1BF453FC2659}"/>
              </a:ext>
            </a:extLst>
          </p:cNvPr>
          <p:cNvSpPr txBox="1">
            <a:spLocks/>
          </p:cNvSpPr>
          <p:nvPr/>
        </p:nvSpPr>
        <p:spPr>
          <a:xfrm>
            <a:off x="5765835" y="1860047"/>
            <a:ext cx="4271816" cy="2166399"/>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457200" lvl="1" indent="0" algn="ctr">
              <a:buNone/>
            </a:pPr>
            <a:r>
              <a:rPr lang="en-US"/>
              <a:t>Out of scope</a:t>
            </a:r>
          </a:p>
          <a:p>
            <a:pPr lvl="1"/>
            <a:r>
              <a:rPr lang="en-US"/>
              <a:t>Multiplayer modes</a:t>
            </a:r>
          </a:p>
          <a:p>
            <a:pPr lvl="1">
              <a:buClr>
                <a:srgbClr val="8AD0D6"/>
              </a:buClr>
            </a:pPr>
            <a:r>
              <a:rPr lang="en-US"/>
              <a:t>Social features</a:t>
            </a:r>
          </a:p>
          <a:p>
            <a:pPr lvl="1">
              <a:buClr>
                <a:srgbClr val="8AD0D6"/>
              </a:buClr>
            </a:pPr>
            <a:r>
              <a:rPr lang="en-US"/>
              <a:t>Cloud sync</a:t>
            </a:r>
          </a:p>
          <a:p>
            <a:pPr lvl="1">
              <a:buClr>
                <a:srgbClr val="8AD0D6"/>
              </a:buClr>
            </a:pPr>
            <a:r>
              <a:rPr lang="en-US"/>
              <a:t>Monetization system</a:t>
            </a:r>
          </a:p>
          <a:p>
            <a:pPr lvl="1">
              <a:buClr>
                <a:srgbClr val="8AD0D6"/>
              </a:buClr>
              <a:buFont typeface="Wingdings 3" charset="2"/>
              <a:buChar char=""/>
            </a:pPr>
            <a:endParaRPr lang="en-US"/>
          </a:p>
          <a:p>
            <a:pPr marL="457200" lvl="1" indent="0">
              <a:buNone/>
            </a:pPr>
            <a:endParaRPr lang="en-US"/>
          </a:p>
        </p:txBody>
      </p:sp>
      <p:sp>
        <p:nvSpPr>
          <p:cNvPr id="11" name="Content Placeholder 2">
            <a:extLst>
              <a:ext uri="{FF2B5EF4-FFF2-40B4-BE49-F238E27FC236}">
                <a16:creationId xmlns:a16="http://schemas.microsoft.com/office/drawing/2014/main" id="{8DF3E980-25D2-26BD-45CA-29B63FC0224C}"/>
              </a:ext>
            </a:extLst>
          </p:cNvPr>
          <p:cNvSpPr txBox="1">
            <a:spLocks/>
          </p:cNvSpPr>
          <p:nvPr/>
        </p:nvSpPr>
        <p:spPr>
          <a:xfrm>
            <a:off x="2927661" y="4212308"/>
            <a:ext cx="4271816" cy="2166399"/>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457200" lvl="1" indent="0" algn="ctr">
              <a:buNone/>
            </a:pPr>
            <a:r>
              <a:rPr lang="en-US"/>
              <a:t>Unresolved</a:t>
            </a:r>
          </a:p>
          <a:p>
            <a:pPr lvl="1"/>
            <a:r>
              <a:rPr lang="en-US"/>
              <a:t>Adaptation strategy</a:t>
            </a:r>
          </a:p>
          <a:p>
            <a:pPr lvl="1">
              <a:buClr>
                <a:srgbClr val="8AD0D6"/>
              </a:buClr>
            </a:pPr>
            <a:r>
              <a:rPr lang="en-US"/>
              <a:t>Target platform</a:t>
            </a:r>
          </a:p>
          <a:p>
            <a:pPr lvl="1">
              <a:buClr>
                <a:srgbClr val="8AD0D6"/>
              </a:buClr>
            </a:pPr>
            <a:r>
              <a:rPr lang="en-US"/>
              <a:t>Offline support </a:t>
            </a:r>
          </a:p>
          <a:p>
            <a:pPr lvl="1">
              <a:buClr>
                <a:srgbClr val="8AD0D6"/>
              </a:buClr>
            </a:pPr>
            <a:endParaRPr lang="en-US"/>
          </a:p>
          <a:p>
            <a:pPr lvl="1">
              <a:buClr>
                <a:srgbClr val="8AD0D6"/>
              </a:buClr>
              <a:buFont typeface="Wingdings 3" charset="2"/>
              <a:buChar char=""/>
            </a:pPr>
            <a:endParaRPr lang="en-US"/>
          </a:p>
          <a:p>
            <a:pPr marL="457200" lvl="1" indent="0">
              <a:buNone/>
            </a:pPr>
            <a:endParaRPr lang="en-US"/>
          </a:p>
        </p:txBody>
      </p:sp>
    </p:spTree>
    <p:extLst>
      <p:ext uri="{BB962C8B-B14F-4D97-AF65-F5344CB8AC3E}">
        <p14:creationId xmlns:p14="http://schemas.microsoft.com/office/powerpoint/2010/main" val="382963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38039-5692-53BD-74C2-BA5900CD4653}"/>
              </a:ext>
            </a:extLst>
          </p:cNvPr>
          <p:cNvSpPr>
            <a:spLocks noGrp="1"/>
          </p:cNvSpPr>
          <p:nvPr>
            <p:ph type="title"/>
          </p:nvPr>
        </p:nvSpPr>
        <p:spPr/>
        <p:txBody>
          <a:bodyPr/>
          <a:lstStyle/>
          <a:p>
            <a:r>
              <a:rPr lang="en-US">
                <a:ea typeface="+mj-lt"/>
                <a:cs typeface="+mj-lt"/>
              </a:rPr>
              <a:t>Key stakeholders</a:t>
            </a:r>
            <a:endParaRPr lang="en-US"/>
          </a:p>
        </p:txBody>
      </p:sp>
      <p:sp>
        <p:nvSpPr>
          <p:cNvPr id="3" name="Content Placeholder 2">
            <a:extLst>
              <a:ext uri="{FF2B5EF4-FFF2-40B4-BE49-F238E27FC236}">
                <a16:creationId xmlns:a16="http://schemas.microsoft.com/office/drawing/2014/main" id="{CF7AF993-B2A8-BF05-F3BE-4D471FEC1FCF}"/>
              </a:ext>
            </a:extLst>
          </p:cNvPr>
          <p:cNvSpPr>
            <a:spLocks noGrp="1"/>
          </p:cNvSpPr>
          <p:nvPr>
            <p:ph idx="1"/>
          </p:nvPr>
        </p:nvSpPr>
        <p:spPr>
          <a:xfrm>
            <a:off x="1103312" y="2052918"/>
            <a:ext cx="4230976" cy="805134"/>
          </a:xfrm>
        </p:spPr>
        <p:txBody>
          <a:bodyPr vert="horz" lIns="91440" tIns="45720" rIns="91440" bIns="45720" rtlCol="0" anchor="t">
            <a:normAutofit/>
          </a:bodyPr>
          <a:lstStyle/>
          <a:p>
            <a:pPr>
              <a:buClr>
                <a:srgbClr val="8AD0D6"/>
              </a:buClr>
            </a:pPr>
            <a:r>
              <a:rPr lang="en-US"/>
              <a:t>End users</a:t>
            </a:r>
          </a:p>
        </p:txBody>
      </p:sp>
      <p:sp>
        <p:nvSpPr>
          <p:cNvPr id="5" name="Content Placeholder 2">
            <a:extLst>
              <a:ext uri="{FF2B5EF4-FFF2-40B4-BE49-F238E27FC236}">
                <a16:creationId xmlns:a16="http://schemas.microsoft.com/office/drawing/2014/main" id="{5B92DA09-579B-3341-DDAC-02F2A30E62C9}"/>
              </a:ext>
            </a:extLst>
          </p:cNvPr>
          <p:cNvSpPr txBox="1">
            <a:spLocks/>
          </p:cNvSpPr>
          <p:nvPr/>
        </p:nvSpPr>
        <p:spPr>
          <a:xfrm>
            <a:off x="1112147" y="3791519"/>
            <a:ext cx="4230976" cy="805134"/>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buClr>
                <a:srgbClr val="8AD0D6"/>
              </a:buClr>
            </a:pPr>
            <a:r>
              <a:rPr lang="en-US"/>
              <a:t>Development team</a:t>
            </a:r>
          </a:p>
        </p:txBody>
      </p:sp>
      <p:sp>
        <p:nvSpPr>
          <p:cNvPr id="6" name="Content Placeholder 2">
            <a:extLst>
              <a:ext uri="{FF2B5EF4-FFF2-40B4-BE49-F238E27FC236}">
                <a16:creationId xmlns:a16="http://schemas.microsoft.com/office/drawing/2014/main" id="{617FC68D-0E8C-B21F-B0DF-45E8ADBB0C89}"/>
              </a:ext>
            </a:extLst>
          </p:cNvPr>
          <p:cNvSpPr txBox="1">
            <a:spLocks/>
          </p:cNvSpPr>
          <p:nvPr/>
        </p:nvSpPr>
        <p:spPr>
          <a:xfrm>
            <a:off x="6324668" y="2856883"/>
            <a:ext cx="4230976" cy="805134"/>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buClr>
                <a:srgbClr val="8AD0D6"/>
              </a:buClr>
            </a:pPr>
            <a:r>
              <a:rPr lang="en-US"/>
              <a:t>Supporting stakeholders</a:t>
            </a:r>
          </a:p>
        </p:txBody>
      </p:sp>
    </p:spTree>
    <p:extLst>
      <p:ext uri="{BB962C8B-B14F-4D97-AF65-F5344CB8AC3E}">
        <p14:creationId xmlns:p14="http://schemas.microsoft.com/office/powerpoint/2010/main" val="2200905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B3755875-CA79-534D-D632-156DBC2C062E}"/>
              </a:ext>
            </a:extLst>
          </p:cNvPr>
          <p:cNvSpPr/>
          <p:nvPr/>
        </p:nvSpPr>
        <p:spPr>
          <a:xfrm>
            <a:off x="5092" y="847327"/>
            <a:ext cx="3575013" cy="18965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Front end</a:t>
            </a:r>
          </a:p>
          <a:p>
            <a:pPr algn="ctr"/>
            <a:endParaRPr lang="en-US"/>
          </a:p>
          <a:p>
            <a:pPr algn="ctr"/>
            <a:r>
              <a:rPr lang="en-US"/>
              <a:t>React</a:t>
            </a:r>
          </a:p>
          <a:p>
            <a:pPr algn="ctr"/>
            <a:r>
              <a:rPr lang="en-US"/>
              <a:t>Component-based  UI</a:t>
            </a:r>
          </a:p>
          <a:p>
            <a:pPr algn="ctr"/>
            <a:r>
              <a:rPr lang="en-US"/>
              <a:t>Sudoku grid with interactions</a:t>
            </a:r>
          </a:p>
          <a:p>
            <a:pPr algn="ctr"/>
            <a:endParaRPr lang="en-US"/>
          </a:p>
        </p:txBody>
      </p:sp>
      <p:cxnSp>
        <p:nvCxnSpPr>
          <p:cNvPr id="11" name="Straight Arrow Connector 10">
            <a:extLst>
              <a:ext uri="{FF2B5EF4-FFF2-40B4-BE49-F238E27FC236}">
                <a16:creationId xmlns:a16="http://schemas.microsoft.com/office/drawing/2014/main" id="{64979691-C581-009A-68BE-6B6ACF74A4BF}"/>
              </a:ext>
            </a:extLst>
          </p:cNvPr>
          <p:cNvCxnSpPr/>
          <p:nvPr/>
        </p:nvCxnSpPr>
        <p:spPr>
          <a:xfrm>
            <a:off x="3052765" y="1769252"/>
            <a:ext cx="1300920" cy="8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B4297960-F17C-54A0-CC95-E4670CE2A983}"/>
              </a:ext>
            </a:extLst>
          </p:cNvPr>
          <p:cNvSpPr/>
          <p:nvPr/>
        </p:nvSpPr>
        <p:spPr>
          <a:xfrm>
            <a:off x="4356221" y="858370"/>
            <a:ext cx="3420406" cy="18855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Application logic</a:t>
            </a:r>
          </a:p>
          <a:p>
            <a:pPr algn="ctr"/>
            <a:endParaRPr lang="en-US"/>
          </a:p>
          <a:p>
            <a:pPr algn="ctr"/>
            <a:r>
              <a:rPr lang="en-US"/>
              <a:t>Puzzle generator</a:t>
            </a:r>
          </a:p>
          <a:p>
            <a:pPr algn="ctr"/>
            <a:r>
              <a:rPr lang="en-US"/>
              <a:t>Adaptive difficulty engine</a:t>
            </a:r>
          </a:p>
          <a:p>
            <a:pPr algn="ctr"/>
            <a:r>
              <a:rPr lang="en-US"/>
              <a:t>Hing engine</a:t>
            </a:r>
          </a:p>
          <a:p>
            <a:pPr algn="ctr"/>
            <a:endParaRPr lang="en-US"/>
          </a:p>
        </p:txBody>
      </p:sp>
      <p:sp>
        <p:nvSpPr>
          <p:cNvPr id="13" name="TextBox 12">
            <a:extLst>
              <a:ext uri="{FF2B5EF4-FFF2-40B4-BE49-F238E27FC236}">
                <a16:creationId xmlns:a16="http://schemas.microsoft.com/office/drawing/2014/main" id="{315AD433-2E85-E1A8-D51A-7942DB91CC5B}"/>
              </a:ext>
            </a:extLst>
          </p:cNvPr>
          <p:cNvSpPr txBox="1"/>
          <p:nvPr/>
        </p:nvSpPr>
        <p:spPr>
          <a:xfrm>
            <a:off x="932654" y="3916776"/>
            <a:ext cx="423406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Web application</a:t>
            </a:r>
          </a:p>
          <a:p>
            <a:pPr marL="742950" lvl="1" indent="-285750">
              <a:buFont typeface="Courier New"/>
              <a:buChar char="o"/>
            </a:pPr>
            <a:r>
              <a:rPr lang="en-US"/>
              <a:t>React, HTML, CSS</a:t>
            </a:r>
          </a:p>
          <a:p>
            <a:pPr marL="742950" lvl="1" indent="-285750">
              <a:buFont typeface="Courier New"/>
              <a:buChar char="o"/>
            </a:pPr>
            <a:r>
              <a:rPr lang="en-US"/>
              <a:t>Firebase</a:t>
            </a:r>
          </a:p>
          <a:p>
            <a:pPr marL="742950" lvl="1" indent="-285750">
              <a:buFont typeface="Courier New"/>
              <a:buChar char="o"/>
            </a:pPr>
            <a:r>
              <a:rPr lang="en-US"/>
              <a:t>Jest</a:t>
            </a:r>
          </a:p>
        </p:txBody>
      </p:sp>
      <p:cxnSp>
        <p:nvCxnSpPr>
          <p:cNvPr id="14" name="Straight Arrow Connector 13">
            <a:extLst>
              <a:ext uri="{FF2B5EF4-FFF2-40B4-BE49-F238E27FC236}">
                <a16:creationId xmlns:a16="http://schemas.microsoft.com/office/drawing/2014/main" id="{38459464-4AC3-60FA-DCC0-FB393F8B0926}"/>
              </a:ext>
            </a:extLst>
          </p:cNvPr>
          <p:cNvCxnSpPr>
            <a:cxnSpLocks/>
          </p:cNvCxnSpPr>
          <p:nvPr/>
        </p:nvCxnSpPr>
        <p:spPr>
          <a:xfrm flipH="1">
            <a:off x="6065426" y="2741077"/>
            <a:ext cx="46384" cy="892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C7891EBD-0507-1904-BF0E-E8D03B34DAE3}"/>
              </a:ext>
            </a:extLst>
          </p:cNvPr>
          <p:cNvSpPr/>
          <p:nvPr/>
        </p:nvSpPr>
        <p:spPr>
          <a:xfrm>
            <a:off x="4179526" y="3641326"/>
            <a:ext cx="3840058" cy="18855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Firebase</a:t>
            </a:r>
          </a:p>
          <a:p>
            <a:pPr algn="ctr"/>
            <a:endParaRPr lang="en-US"/>
          </a:p>
          <a:p>
            <a:pPr algn="ctr"/>
            <a:r>
              <a:rPr lang="en-US"/>
              <a:t>Game state, progress, difficulty history</a:t>
            </a:r>
          </a:p>
          <a:p>
            <a:pPr algn="ctr"/>
            <a:r>
              <a:rPr lang="en-US"/>
              <a:t>Firebase Auth</a:t>
            </a:r>
          </a:p>
          <a:p>
            <a:pPr algn="ctr"/>
            <a:r>
              <a:rPr lang="en-US"/>
              <a:t>Firebase Hosting</a:t>
            </a:r>
          </a:p>
          <a:p>
            <a:pPr algn="ctr"/>
            <a:endParaRPr lang="en-US"/>
          </a:p>
        </p:txBody>
      </p:sp>
    </p:spTree>
    <p:extLst>
      <p:ext uri="{BB962C8B-B14F-4D97-AF65-F5344CB8AC3E}">
        <p14:creationId xmlns:p14="http://schemas.microsoft.com/office/powerpoint/2010/main" val="2691236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5BF7A-50C9-8F55-D963-099F1211561A}"/>
              </a:ext>
            </a:extLst>
          </p:cNvPr>
          <p:cNvSpPr>
            <a:spLocks noGrp="1"/>
          </p:cNvSpPr>
          <p:nvPr>
            <p:ph type="title"/>
          </p:nvPr>
        </p:nvSpPr>
        <p:spPr/>
        <p:txBody>
          <a:bodyPr/>
          <a:lstStyle/>
          <a:p>
            <a:r>
              <a:rPr lang="en-US"/>
              <a:t>Risks</a:t>
            </a:r>
          </a:p>
        </p:txBody>
      </p:sp>
      <p:sp>
        <p:nvSpPr>
          <p:cNvPr id="3" name="Content Placeholder 2">
            <a:extLst>
              <a:ext uri="{FF2B5EF4-FFF2-40B4-BE49-F238E27FC236}">
                <a16:creationId xmlns:a16="http://schemas.microsoft.com/office/drawing/2014/main" id="{F5688783-AB6B-DFDB-9DA0-BE74371B5B92}"/>
              </a:ext>
            </a:extLst>
          </p:cNvPr>
          <p:cNvSpPr>
            <a:spLocks noGrp="1"/>
          </p:cNvSpPr>
          <p:nvPr>
            <p:ph idx="1"/>
          </p:nvPr>
        </p:nvSpPr>
        <p:spPr>
          <a:xfrm>
            <a:off x="649191" y="1521827"/>
            <a:ext cx="8946541" cy="4765056"/>
          </a:xfrm>
        </p:spPr>
        <p:txBody>
          <a:bodyPr vert="horz" lIns="91440" tIns="45720" rIns="91440" bIns="45720" rtlCol="0" anchor="t">
            <a:normAutofit/>
          </a:bodyPr>
          <a:lstStyle/>
          <a:p>
            <a:pPr marL="0" indent="0">
              <a:buClr>
                <a:srgbClr val="8AD0D6"/>
              </a:buClr>
              <a:buNone/>
            </a:pPr>
            <a:r>
              <a:rPr lang="en-US">
                <a:ea typeface="+mj-lt"/>
                <a:cs typeface="+mj-lt"/>
              </a:rPr>
              <a:t>Main risks:</a:t>
            </a:r>
            <a:endParaRPr lang="en-US"/>
          </a:p>
          <a:p>
            <a:pPr>
              <a:buClr>
                <a:srgbClr val="8AD0D6"/>
              </a:buClr>
            </a:pPr>
            <a:r>
              <a:rPr lang="en-US"/>
              <a:t>Complexity of Sudoku generator</a:t>
            </a:r>
          </a:p>
          <a:p>
            <a:pPr>
              <a:buClr>
                <a:srgbClr val="8AD0D6"/>
              </a:buClr>
            </a:pPr>
            <a:r>
              <a:rPr lang="en-US"/>
              <a:t>Difficulty balancing (adaptive system)</a:t>
            </a:r>
          </a:p>
          <a:p>
            <a:pPr>
              <a:buClr>
                <a:srgbClr val="8AD0D6"/>
              </a:buClr>
            </a:pPr>
            <a:r>
              <a:rPr lang="en-US"/>
              <a:t>Team coordination problems</a:t>
            </a:r>
          </a:p>
          <a:p>
            <a:pPr>
              <a:buClr>
                <a:srgbClr val="8AD0D6"/>
              </a:buClr>
            </a:pPr>
            <a:r>
              <a:rPr lang="en-US"/>
              <a:t>React + firebase integration issues</a:t>
            </a:r>
          </a:p>
          <a:p>
            <a:pPr>
              <a:buClr>
                <a:srgbClr val="8AD0D6"/>
              </a:buClr>
            </a:pPr>
            <a:endParaRPr lang="en-US"/>
          </a:p>
          <a:p>
            <a:pPr marL="0" indent="0">
              <a:buClr>
                <a:srgbClr val="8AD0D6"/>
              </a:buClr>
              <a:buNone/>
            </a:pPr>
            <a:r>
              <a:rPr lang="en-US"/>
              <a:t>Ways to solve them:</a:t>
            </a:r>
          </a:p>
          <a:p>
            <a:r>
              <a:rPr lang="en-US"/>
              <a:t>Weekly Scrum meetings</a:t>
            </a:r>
          </a:p>
          <a:p>
            <a:pPr>
              <a:buClr>
                <a:srgbClr val="8AD0D6"/>
              </a:buClr>
            </a:pPr>
            <a:r>
              <a:rPr lang="en-US"/>
              <a:t>Early and </a:t>
            </a:r>
            <a:r>
              <a:rPr lang="en-US" err="1"/>
              <a:t>continious</a:t>
            </a:r>
            <a:r>
              <a:rPr lang="en-US"/>
              <a:t> testing</a:t>
            </a:r>
          </a:p>
          <a:p>
            <a:pPr>
              <a:buClr>
                <a:srgbClr val="8AD0D6"/>
              </a:buClr>
            </a:pPr>
            <a:r>
              <a:rPr lang="en-US"/>
              <a:t>Build core version first</a:t>
            </a:r>
          </a:p>
          <a:p>
            <a:pPr>
              <a:buClr>
                <a:srgbClr val="8AD0D6"/>
              </a:buClr>
            </a:pPr>
            <a:r>
              <a:rPr lang="en-US"/>
              <a:t>Focus on in-scope features</a:t>
            </a:r>
          </a:p>
          <a:p>
            <a:pPr>
              <a:buClr>
                <a:srgbClr val="8AD0D6"/>
              </a:buClr>
            </a:pPr>
            <a:endParaRPr lang="en-US"/>
          </a:p>
          <a:p>
            <a:pPr>
              <a:buClr>
                <a:srgbClr val="8AD0D6"/>
              </a:buClr>
            </a:pPr>
            <a:endParaRPr lang="en-US"/>
          </a:p>
        </p:txBody>
      </p:sp>
    </p:spTree>
    <p:extLst>
      <p:ext uri="{BB962C8B-B14F-4D97-AF65-F5344CB8AC3E}">
        <p14:creationId xmlns:p14="http://schemas.microsoft.com/office/powerpoint/2010/main" val="1484195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64B67-50F6-3403-32DF-F20C754B371C}"/>
              </a:ext>
            </a:extLst>
          </p:cNvPr>
          <p:cNvSpPr>
            <a:spLocks noGrp="1"/>
          </p:cNvSpPr>
          <p:nvPr>
            <p:ph type="title"/>
          </p:nvPr>
        </p:nvSpPr>
        <p:spPr/>
        <p:txBody>
          <a:bodyPr/>
          <a:lstStyle/>
          <a:p>
            <a:r>
              <a:rPr lang="en-US"/>
              <a:t>Project size and timeline</a:t>
            </a:r>
          </a:p>
        </p:txBody>
      </p:sp>
      <p:sp>
        <p:nvSpPr>
          <p:cNvPr id="3" name="Content Placeholder 2">
            <a:extLst>
              <a:ext uri="{FF2B5EF4-FFF2-40B4-BE49-F238E27FC236}">
                <a16:creationId xmlns:a16="http://schemas.microsoft.com/office/drawing/2014/main" id="{77C30263-E6D8-65B4-4162-7D5B0627FAD7}"/>
              </a:ext>
            </a:extLst>
          </p:cNvPr>
          <p:cNvSpPr>
            <a:spLocks noGrp="1"/>
          </p:cNvSpPr>
          <p:nvPr>
            <p:ph idx="1"/>
          </p:nvPr>
        </p:nvSpPr>
        <p:spPr/>
        <p:txBody>
          <a:bodyPr vert="horz" lIns="91440" tIns="45720" rIns="91440" bIns="45720" rtlCol="0" anchor="t">
            <a:normAutofit/>
          </a:bodyPr>
          <a:lstStyle/>
          <a:p>
            <a:pPr marL="0" indent="0">
              <a:buNone/>
            </a:pPr>
            <a:r>
              <a:rPr lang="en-US"/>
              <a:t>Duration: 12 weeks (12 sprints)</a:t>
            </a:r>
          </a:p>
          <a:p>
            <a:pPr marL="0" indent="0">
              <a:buNone/>
            </a:pPr>
            <a:endParaRPr lang="en-US"/>
          </a:p>
          <a:p>
            <a:pPr marL="0" indent="0">
              <a:buNone/>
            </a:pPr>
            <a:r>
              <a:rPr lang="en-US"/>
              <a:t>Plan:</a:t>
            </a:r>
          </a:p>
          <a:p>
            <a:pPr marL="0" indent="0">
              <a:buNone/>
            </a:pPr>
            <a:r>
              <a:rPr lang="en-US" dirty="0"/>
              <a:t>Weeks 1-2: Planning &amp; setup</a:t>
            </a:r>
          </a:p>
          <a:p>
            <a:pPr marL="0" indent="0">
              <a:buNone/>
            </a:pPr>
            <a:r>
              <a:rPr lang="en-US"/>
              <a:t>Weeks 3-8: Core development</a:t>
            </a:r>
          </a:p>
          <a:p>
            <a:pPr marL="0" indent="0">
              <a:buNone/>
            </a:pPr>
            <a:r>
              <a:rPr lang="en-US"/>
              <a:t>Weeks 9-10: Advanced features development</a:t>
            </a:r>
          </a:p>
          <a:p>
            <a:pPr marL="0" indent="0">
              <a:buNone/>
            </a:pPr>
            <a:r>
              <a:rPr lang="en-US"/>
              <a:t>Weeks 11-12: Testing and deployment</a:t>
            </a:r>
          </a:p>
        </p:txBody>
      </p:sp>
    </p:spTree>
    <p:extLst>
      <p:ext uri="{BB962C8B-B14F-4D97-AF65-F5344CB8AC3E}">
        <p14:creationId xmlns:p14="http://schemas.microsoft.com/office/powerpoint/2010/main" val="2891774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CE205-DCEF-5B33-C2D0-FF25C05328F5}"/>
              </a:ext>
            </a:extLst>
          </p:cNvPr>
          <p:cNvSpPr>
            <a:spLocks noGrp="1"/>
          </p:cNvSpPr>
          <p:nvPr>
            <p:ph type="title"/>
          </p:nvPr>
        </p:nvSpPr>
        <p:spPr>
          <a:xfrm>
            <a:off x="646111" y="452718"/>
            <a:ext cx="4862031" cy="716684"/>
          </a:xfrm>
        </p:spPr>
        <p:txBody>
          <a:bodyPr/>
          <a:lstStyle/>
          <a:p>
            <a:r>
              <a:rPr lang="en-US">
                <a:ea typeface="+mj-lt"/>
                <a:cs typeface="+mj-lt"/>
              </a:rPr>
              <a:t>Project Trade-Offs</a:t>
            </a:r>
            <a:endParaRPr lang="en-US"/>
          </a:p>
        </p:txBody>
      </p:sp>
      <p:pic>
        <p:nvPicPr>
          <p:cNvPr id="4" name="Picture 3" descr="A diagram of quality and cost&#10;&#10;AI-generated content may be incorrect.">
            <a:extLst>
              <a:ext uri="{FF2B5EF4-FFF2-40B4-BE49-F238E27FC236}">
                <a16:creationId xmlns:a16="http://schemas.microsoft.com/office/drawing/2014/main" id="{6989DB39-C6DF-993F-E486-CCB7BA23D683}"/>
              </a:ext>
            </a:extLst>
          </p:cNvPr>
          <p:cNvPicPr>
            <a:picLocks noChangeAspect="1"/>
          </p:cNvPicPr>
          <p:nvPr/>
        </p:nvPicPr>
        <p:blipFill>
          <a:blip r:embed="rId2"/>
          <a:stretch>
            <a:fillRect/>
          </a:stretch>
        </p:blipFill>
        <p:spPr>
          <a:xfrm>
            <a:off x="6673606" y="1410800"/>
            <a:ext cx="4989635" cy="4026632"/>
          </a:xfrm>
          <a:prstGeom prst="rect">
            <a:avLst/>
          </a:prstGeom>
        </p:spPr>
      </p:pic>
      <p:sp>
        <p:nvSpPr>
          <p:cNvPr id="5" name="TextBox 4">
            <a:extLst>
              <a:ext uri="{FF2B5EF4-FFF2-40B4-BE49-F238E27FC236}">
                <a16:creationId xmlns:a16="http://schemas.microsoft.com/office/drawing/2014/main" id="{A4CD69E1-E4D4-64E9-06E2-247633C38E38}"/>
              </a:ext>
            </a:extLst>
          </p:cNvPr>
          <p:cNvSpPr txBox="1"/>
          <p:nvPr/>
        </p:nvSpPr>
        <p:spPr>
          <a:xfrm>
            <a:off x="647212" y="2593730"/>
            <a:ext cx="519527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Font typeface="Courier New"/>
              <a:buChar char="o"/>
            </a:pPr>
            <a:r>
              <a:rPr lang="en-US" sz="2800">
                <a:ea typeface="+mn-lt"/>
                <a:cs typeface="+mn-lt"/>
              </a:rPr>
              <a:t>Time → Fixed</a:t>
            </a:r>
            <a:endParaRPr lang="en-US" sz="2800"/>
          </a:p>
          <a:p>
            <a:pPr marL="457200" indent="-457200">
              <a:lnSpc>
                <a:spcPct val="150000"/>
              </a:lnSpc>
              <a:buFont typeface="Courier New"/>
              <a:buChar char="o"/>
            </a:pPr>
            <a:r>
              <a:rPr lang="en-US" sz="2800">
                <a:ea typeface="+mn-lt"/>
                <a:cs typeface="+mn-lt"/>
              </a:rPr>
              <a:t>Cost(Team) → Fixed</a:t>
            </a:r>
            <a:endParaRPr lang="en-US" sz="2800"/>
          </a:p>
          <a:p>
            <a:pPr marL="457200" indent="-457200">
              <a:lnSpc>
                <a:spcPct val="150000"/>
              </a:lnSpc>
              <a:buFont typeface="Courier New"/>
              <a:buChar char="o"/>
            </a:pPr>
            <a:r>
              <a:rPr lang="en-US" sz="2800">
                <a:ea typeface="+mn-lt"/>
                <a:cs typeface="+mn-lt"/>
              </a:rPr>
              <a:t>Scope → Flexible</a:t>
            </a:r>
            <a:endParaRPr lang="en-US" sz="2800"/>
          </a:p>
          <a:p>
            <a:pPr algn="l"/>
            <a:endParaRPr lang="en-US"/>
          </a:p>
        </p:txBody>
      </p:sp>
    </p:spTree>
    <p:extLst>
      <p:ext uri="{BB962C8B-B14F-4D97-AF65-F5344CB8AC3E}">
        <p14:creationId xmlns:p14="http://schemas.microsoft.com/office/powerpoint/2010/main" val="870667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FFA6E-5ABD-7E4D-7A46-DF45028236B8}"/>
              </a:ext>
            </a:extLst>
          </p:cNvPr>
          <p:cNvSpPr>
            <a:spLocks noGrp="1"/>
          </p:cNvSpPr>
          <p:nvPr>
            <p:ph type="title"/>
          </p:nvPr>
        </p:nvSpPr>
        <p:spPr>
          <a:xfrm>
            <a:off x="646111" y="452718"/>
            <a:ext cx="4680323" cy="685423"/>
          </a:xfrm>
        </p:spPr>
        <p:txBody>
          <a:bodyPr/>
          <a:lstStyle/>
          <a:p>
            <a:r>
              <a:rPr lang="en-US">
                <a:ea typeface="+mj-lt"/>
                <a:cs typeface="+mj-lt"/>
              </a:rPr>
              <a:t>Resources &amp; Plan</a:t>
            </a:r>
            <a:endParaRPr lang="en-US"/>
          </a:p>
        </p:txBody>
      </p:sp>
      <p:sp>
        <p:nvSpPr>
          <p:cNvPr id="4" name="TextBox 3">
            <a:extLst>
              <a:ext uri="{FF2B5EF4-FFF2-40B4-BE49-F238E27FC236}">
                <a16:creationId xmlns:a16="http://schemas.microsoft.com/office/drawing/2014/main" id="{11FEFDE7-F3DE-0DF4-4D41-8E6985E0B75E}"/>
              </a:ext>
            </a:extLst>
          </p:cNvPr>
          <p:cNvSpPr txBox="1"/>
          <p:nvPr/>
        </p:nvSpPr>
        <p:spPr>
          <a:xfrm>
            <a:off x="973015" y="1957753"/>
            <a:ext cx="4466491" cy="295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Font typeface="Courier New"/>
              <a:buChar char="o"/>
            </a:pPr>
            <a:r>
              <a:rPr lang="en-US" sz="2800">
                <a:ea typeface="+mn-lt"/>
                <a:cs typeface="+mn-lt"/>
              </a:rPr>
              <a:t>12 Weeks → 12 Sprints</a:t>
            </a:r>
            <a:endParaRPr lang="en-US" sz="2800"/>
          </a:p>
          <a:p>
            <a:pPr marL="457200" indent="-457200">
              <a:lnSpc>
                <a:spcPct val="150000"/>
              </a:lnSpc>
              <a:buFont typeface="Courier New"/>
              <a:buChar char="o"/>
            </a:pPr>
            <a:r>
              <a:rPr lang="en-US" sz="2800">
                <a:ea typeface="+mn-lt"/>
                <a:cs typeface="+mn-lt"/>
              </a:rPr>
              <a:t>Team of 4</a:t>
            </a:r>
            <a:endParaRPr lang="en-US" sz="2800"/>
          </a:p>
          <a:p>
            <a:pPr marL="457200" indent="-457200">
              <a:lnSpc>
                <a:spcPct val="150000"/>
              </a:lnSpc>
              <a:buFont typeface="Courier New"/>
              <a:buChar char="o"/>
            </a:pPr>
            <a:r>
              <a:rPr lang="en-US" sz="2800">
                <a:ea typeface="+mn-lt"/>
                <a:cs typeface="+mn-lt"/>
              </a:rPr>
              <a:t>Agile Scrum</a:t>
            </a:r>
            <a:endParaRPr lang="en-US" sz="2800"/>
          </a:p>
          <a:p>
            <a:pPr marL="457200" indent="-457200">
              <a:lnSpc>
                <a:spcPct val="150000"/>
              </a:lnSpc>
              <a:buFont typeface="Courier New"/>
              <a:buChar char="o"/>
            </a:pPr>
            <a:r>
              <a:rPr lang="en-US" sz="2800">
                <a:ea typeface="+mn-lt"/>
                <a:cs typeface="+mn-lt"/>
              </a:rPr>
              <a:t>Free Tools</a:t>
            </a:r>
            <a:endParaRPr lang="en-US" sz="2800"/>
          </a:p>
          <a:p>
            <a:pPr algn="l"/>
            <a:endParaRPr lang="en-US"/>
          </a:p>
        </p:txBody>
      </p:sp>
      <p:pic>
        <p:nvPicPr>
          <p:cNvPr id="5" name="Picture 4" descr="A group of people working on a puzzle&#10;&#10;AI-generated content may be incorrect.">
            <a:extLst>
              <a:ext uri="{FF2B5EF4-FFF2-40B4-BE49-F238E27FC236}">
                <a16:creationId xmlns:a16="http://schemas.microsoft.com/office/drawing/2014/main" id="{521A7E76-A0B5-D77D-02F7-D86D2414572A}"/>
              </a:ext>
            </a:extLst>
          </p:cNvPr>
          <p:cNvPicPr>
            <a:picLocks noChangeAspect="1"/>
          </p:cNvPicPr>
          <p:nvPr/>
        </p:nvPicPr>
        <p:blipFill>
          <a:blip r:embed="rId2"/>
          <a:stretch>
            <a:fillRect/>
          </a:stretch>
        </p:blipFill>
        <p:spPr>
          <a:xfrm>
            <a:off x="5580184" y="1711569"/>
            <a:ext cx="6060832" cy="3387970"/>
          </a:xfrm>
          <a:prstGeom prst="rect">
            <a:avLst/>
          </a:prstGeom>
        </p:spPr>
      </p:pic>
    </p:spTree>
    <p:extLst>
      <p:ext uri="{BB962C8B-B14F-4D97-AF65-F5344CB8AC3E}">
        <p14:creationId xmlns:p14="http://schemas.microsoft.com/office/powerpoint/2010/main" val="18668610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Ion</vt:lpstr>
      <vt:lpstr>Why are we here?</vt:lpstr>
      <vt:lpstr>Elevator Pitch </vt:lpstr>
      <vt:lpstr>Product Box </vt:lpstr>
      <vt:lpstr>PowerPoint Presentation</vt:lpstr>
      <vt:lpstr>Key stakeholders</vt:lpstr>
      <vt:lpstr>PowerPoint Presentation</vt:lpstr>
      <vt:lpstr>Risks</vt:lpstr>
      <vt:lpstr>Project size and timeline</vt:lpstr>
      <vt:lpstr>Project Trade-Offs</vt:lpstr>
      <vt:lpstr>Resources &amp; Plan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5</cp:revision>
  <dcterms:created xsi:type="dcterms:W3CDTF">2026-02-16T12:21:01Z</dcterms:created>
  <dcterms:modified xsi:type="dcterms:W3CDTF">2026-02-19T21:01:20Z</dcterms:modified>
</cp:coreProperties>
</file>